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ilda Display" charset="1" panose="02000000000000000000"/>
      <p:regular r:id="rId13"/>
    </p:embeddedFont>
    <p:embeddedFont>
      <p:font typeface="Glacial Indifference" charset="1" panose="00000000000000000000"/>
      <p:regular r:id="rId14"/>
    </p:embeddedFont>
    <p:embeddedFont>
      <p:font typeface="Canva Sans" charset="1" panose="020B0503030501040103"/>
      <p:regular r:id="rId15"/>
    </p:embeddedFont>
    <p:embeddedFont>
      <p:font typeface="Gare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9664849" y="1768903"/>
            <a:ext cx="8137709" cy="1983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591"/>
              </a:lnSpc>
            </a:pPr>
            <a:r>
              <a:rPr lang="en-US" sz="7591">
                <a:solidFill>
                  <a:srgbClr val="737373"/>
                </a:solidFill>
                <a:latin typeface="Gilda Display"/>
                <a:ea typeface="Gilda Display"/>
                <a:cs typeface="Gilda Display"/>
                <a:sym typeface="Gilda Display"/>
              </a:rPr>
              <a:t>Titanic: Análisis de supervivencia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912931" y="4339338"/>
            <a:ext cx="7641546" cy="2292854"/>
            <a:chOff x="0" y="0"/>
            <a:chExt cx="10188728" cy="3057138"/>
          </a:xfrm>
        </p:grpSpPr>
        <p:sp>
          <p:nvSpPr>
            <p:cNvPr name="AutoShape 6" id="6"/>
            <p:cNvSpPr/>
            <p:nvPr/>
          </p:nvSpPr>
          <p:spPr>
            <a:xfrm>
              <a:off x="0" y="25400"/>
              <a:ext cx="984343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AutoShape 7" id="7"/>
            <p:cNvSpPr/>
            <p:nvPr/>
          </p:nvSpPr>
          <p:spPr>
            <a:xfrm flipV="true">
              <a:off x="0" y="3031738"/>
              <a:ext cx="9843436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ysDot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846691"/>
              <a:ext cx="10188728" cy="1414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5"/>
                </a:lnSpc>
                <a:spcBef>
                  <a:spcPct val="0"/>
                </a:spcBef>
              </a:pPr>
              <a:r>
                <a:rPr lang="en-US" sz="3985" strike="noStrike" u="none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Un análisis exploratorio </a:t>
              </a:r>
              <a:r>
                <a:rPr lang="en-US" sz="3985" strike="noStrike" u="none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basado </a:t>
              </a:r>
            </a:p>
            <a:p>
              <a:pPr algn="ctr" marL="0" indent="0" lvl="0">
                <a:lnSpc>
                  <a:spcPts val="3985"/>
                </a:lnSpc>
                <a:spcBef>
                  <a:spcPct val="0"/>
                </a:spcBef>
              </a:pPr>
              <a:r>
                <a:rPr lang="en-US" sz="3985" strike="noStrike" u="none">
                  <a:solidFill>
                    <a:srgbClr val="545454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en datos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135691" y="7181005"/>
            <a:ext cx="7123609" cy="39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737373"/>
                </a:solidFill>
                <a:latin typeface="Canva Sans"/>
                <a:ea typeface="Canva Sans"/>
                <a:cs typeface="Canva Sans"/>
                <a:sym typeface="Canva Sans"/>
              </a:rPr>
              <a:t>Data Science - Nicholas Brown -  Diciembre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11164" y="1647434"/>
            <a:ext cx="10465493" cy="8285727"/>
          </a:xfrm>
          <a:prstGeom prst="rect">
            <a:avLst/>
          </a:prstGeom>
        </p:spPr>
      </p:pic>
      <p:sp>
        <p:nvSpPr>
          <p:cNvPr name="Freeform 3" id="3"/>
          <p:cNvSpPr/>
          <p:nvPr/>
        </p:nvSpPr>
        <p:spPr>
          <a:xfrm flipH="false" flipV="false" rot="0">
            <a:off x="11736912" y="3047002"/>
            <a:ext cx="2916992" cy="2916992"/>
          </a:xfrm>
          <a:custGeom>
            <a:avLst/>
            <a:gdLst/>
            <a:ahLst/>
            <a:cxnLst/>
            <a:rect r="r" b="b" t="t" l="l"/>
            <a:pathLst>
              <a:path h="2916992" w="2916992">
                <a:moveTo>
                  <a:pt x="0" y="0"/>
                </a:moveTo>
                <a:lnTo>
                  <a:pt x="2916993" y="0"/>
                </a:lnTo>
                <a:lnTo>
                  <a:pt x="2916993" y="2916992"/>
                </a:lnTo>
                <a:lnTo>
                  <a:pt x="0" y="29169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26916" y="500506"/>
            <a:ext cx="1223416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EL TITANIC FUE UN ACCIDENTE 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CON UNA TASA DE MORTALIDAD MUY ALTA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01152" y="6843615"/>
            <a:ext cx="6535392" cy="2217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Más de la mitad de las personas a bordo perdieron la vida....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84579" y="4909360"/>
            <a:ext cx="9258300" cy="2650502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4579" y="2448715"/>
            <a:ext cx="9258300" cy="285558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4579" y="7169337"/>
            <a:ext cx="9258300" cy="2855586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 rot="0">
            <a:off x="9554793" y="3405686"/>
            <a:ext cx="7704507" cy="923008"/>
            <a:chOff x="0" y="0"/>
            <a:chExt cx="2029170" cy="243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29171" cy="243097"/>
            </a:xfrm>
            <a:custGeom>
              <a:avLst/>
              <a:gdLst/>
              <a:ahLst/>
              <a:cxnLst/>
              <a:rect r="r" b="b" t="t" l="l"/>
              <a:pathLst>
                <a:path h="243097" w="2029171">
                  <a:moveTo>
                    <a:pt x="0" y="0"/>
                  </a:moveTo>
                  <a:lnTo>
                    <a:pt x="2029171" y="0"/>
                  </a:lnTo>
                  <a:lnTo>
                    <a:pt x="2029171" y="243097"/>
                  </a:lnTo>
                  <a:lnTo>
                    <a:pt x="0" y="243097"/>
                  </a:lnTo>
                  <a:close/>
                </a:path>
              </a:pathLst>
            </a:custGeom>
            <a:solidFill>
              <a:srgbClr val="41B8D5">
                <a:alpha val="8627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29170" cy="281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889153" y="500506"/>
            <a:ext cx="8509695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Los datos apoyaron que se dio el </a:t>
            </a:r>
          </a:p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"Las mujeres y los niños primero".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37752" y="3426782"/>
            <a:ext cx="633859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35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 de 10 mujeres sobrevivieron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554793" y="5773107"/>
            <a:ext cx="7704507" cy="923008"/>
            <a:chOff x="0" y="0"/>
            <a:chExt cx="2029170" cy="2430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9171" cy="243097"/>
            </a:xfrm>
            <a:custGeom>
              <a:avLst/>
              <a:gdLst/>
              <a:ahLst/>
              <a:cxnLst/>
              <a:rect r="r" b="b" t="t" l="l"/>
              <a:pathLst>
                <a:path h="243097" w="2029171">
                  <a:moveTo>
                    <a:pt x="0" y="0"/>
                  </a:moveTo>
                  <a:lnTo>
                    <a:pt x="2029171" y="0"/>
                  </a:lnTo>
                  <a:lnTo>
                    <a:pt x="2029171" y="243097"/>
                  </a:lnTo>
                  <a:lnTo>
                    <a:pt x="0" y="243097"/>
                  </a:lnTo>
                  <a:close/>
                </a:path>
              </a:pathLst>
            </a:custGeom>
            <a:solidFill>
              <a:srgbClr val="41B8D5">
                <a:alpha val="8627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029170" cy="281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37752" y="5812971"/>
            <a:ext cx="6199783" cy="7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35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 de 10 niños sobrevivieron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54793" y="8140528"/>
            <a:ext cx="7704507" cy="923008"/>
            <a:chOff x="0" y="0"/>
            <a:chExt cx="2029170" cy="2430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29171" cy="243097"/>
            </a:xfrm>
            <a:custGeom>
              <a:avLst/>
              <a:gdLst/>
              <a:ahLst/>
              <a:cxnLst/>
              <a:rect r="r" b="b" t="t" l="l"/>
              <a:pathLst>
                <a:path h="243097" w="2029171">
                  <a:moveTo>
                    <a:pt x="0" y="0"/>
                  </a:moveTo>
                  <a:lnTo>
                    <a:pt x="2029171" y="0"/>
                  </a:lnTo>
                  <a:lnTo>
                    <a:pt x="2029171" y="243097"/>
                  </a:lnTo>
                  <a:lnTo>
                    <a:pt x="0" y="243097"/>
                  </a:lnTo>
                  <a:close/>
                </a:path>
              </a:pathLst>
            </a:custGeom>
            <a:solidFill>
              <a:srgbClr val="41B8D5">
                <a:alpha val="8627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29170" cy="2811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882896" y="8180392"/>
            <a:ext cx="7048302" cy="748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0035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 de 10 hombres sobrevivieron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91123" y="490981"/>
            <a:ext cx="11905755" cy="262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Pero</a:t>
            </a:r>
            <a:r>
              <a:rPr lang="en-US" sz="4999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...la clase en la que viajaban tuvo una </a:t>
            </a:r>
          </a:p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4999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influencia muy significativa...</a:t>
            </a:r>
          </a:p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45600" y="4365682"/>
            <a:ext cx="3891046" cy="3891046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11345" y="4375518"/>
            <a:ext cx="3773018" cy="3773018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464411" y="4209988"/>
            <a:ext cx="3823597" cy="3823597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735594" y="2702248"/>
            <a:ext cx="2648942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E1C340"/>
                </a:solidFill>
                <a:latin typeface="Garet"/>
                <a:ea typeface="Garet"/>
                <a:cs typeface="Garet"/>
                <a:sym typeface="Garet"/>
              </a:rPr>
              <a:t>First Class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35332" y="2692723"/>
            <a:ext cx="3525044" cy="67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C0C0C0"/>
                </a:solidFill>
                <a:latin typeface="Garet"/>
                <a:ea typeface="Garet"/>
                <a:cs typeface="Garet"/>
                <a:sym typeface="Garet"/>
              </a:rPr>
              <a:t>Second Class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01655" y="2738882"/>
            <a:ext cx="2867720" cy="679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7A2F00"/>
                </a:solidFill>
                <a:latin typeface="Garet"/>
                <a:ea typeface="Garet"/>
                <a:cs typeface="Garet"/>
                <a:sym typeface="Garet"/>
              </a:rPr>
              <a:t>Third Class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79114" y="8048623"/>
            <a:ext cx="23619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Sobrevivieron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50102" y="8048624"/>
            <a:ext cx="236190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Sobrevivieron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95258" y="8048624"/>
            <a:ext cx="2361902" cy="5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Sobrevivieron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3472" y="8523022"/>
            <a:ext cx="3113187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136 personas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0135" y="8496299"/>
            <a:ext cx="294183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87 personas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989240" y="8523022"/>
            <a:ext cx="2980134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119 personas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4501" y="3556392"/>
            <a:ext cx="3093244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Total: 216 pax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33878" y="3556392"/>
            <a:ext cx="3220244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T</a:t>
            </a:r>
            <a:r>
              <a:rPr lang="en-US" sz="4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otal : 184 pax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83044" y="3556392"/>
            <a:ext cx="3242538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T</a:t>
            </a:r>
            <a:r>
              <a:rPr lang="en-US" sz="40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otal: 491 pax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3429" y="390644"/>
            <a:ext cx="13101142" cy="237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Lo cual explicaría el porque de 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la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diferen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c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i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as en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tr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e</a:t>
            </a:r>
          </a:p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t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a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as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 d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e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 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su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per</a:t>
            </a:r>
            <a:r>
              <a:rPr lang="en-US" sz="4500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vivencia de mujeres y niños.</a:t>
            </a:r>
          </a:p>
          <a:p>
            <a:pPr algn="ctr" marL="0" indent="0" lvl="0">
              <a:lnSpc>
                <a:spcPts val="6299"/>
              </a:lnSpc>
              <a:spcBef>
                <a:spcPct val="0"/>
              </a:spcBef>
            </a:pP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740427" y="1634039"/>
            <a:ext cx="6527647" cy="7479648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288639" y="1634039"/>
            <a:ext cx="6537070" cy="7479648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701854" y="8668385"/>
            <a:ext cx="6604794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55649" indent="-377824" lvl="1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Distribución más equilibrada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15102" y="8677910"/>
            <a:ext cx="6484144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Distribución desequilibrada </a:t>
            </a:r>
          </a:p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(Mayoría de niños en Tercera Clase)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4304" y="933450"/>
            <a:ext cx="10044112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Además,</a:t>
            </a:r>
            <a:r>
              <a:rPr lang="en-US" sz="4999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 parece que pudo influir</a:t>
            </a:r>
          </a:p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4999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 el puerto desde donde se embarcó…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94718" y="3930749"/>
            <a:ext cx="7136616" cy="4516893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940545" y="3949498"/>
            <a:ext cx="6911632" cy="4479396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01295" y="3981221"/>
            <a:ext cx="6530951" cy="4415949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53822" y="3327841"/>
            <a:ext cx="323953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Cherbourg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73172" y="3327841"/>
            <a:ext cx="354165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Queenstown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96128" y="3327841"/>
            <a:ext cx="354165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Southampton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37781" y="810848"/>
            <a:ext cx="11412438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49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…</a:t>
            </a:r>
            <a:r>
              <a:rPr lang="en-US" sz="4999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pero en realidad lo que influyó fue, </a:t>
            </a:r>
          </a:p>
          <a:p>
            <a:pPr algn="ctr" marL="0" indent="0" lvl="0">
              <a:lnSpc>
                <a:spcPts val="6999"/>
              </a:lnSpc>
              <a:spcBef>
                <a:spcPct val="0"/>
              </a:spcBef>
            </a:pPr>
            <a:r>
              <a:rPr lang="en-US" sz="4999" strike="noStrike" u="none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una vez más, la clase en que se embarcó.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0665" y="4106079"/>
            <a:ext cx="5425850" cy="542585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31075" y="4106079"/>
            <a:ext cx="5425850" cy="542585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754031" y="4106079"/>
            <a:ext cx="5425850" cy="542585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353822" y="3327841"/>
            <a:ext cx="323953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Cherbourg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73172" y="3327841"/>
            <a:ext cx="354165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Queenstown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96128" y="3327841"/>
            <a:ext cx="354165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0357A"/>
                </a:solidFill>
                <a:latin typeface="Gilda Display"/>
                <a:ea typeface="Gilda Display"/>
                <a:cs typeface="Gilda Display"/>
                <a:sym typeface="Gilda Display"/>
              </a:rPr>
              <a:t>Southampton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DAG7lMgqUEc</dc:identifier>
  <dcterms:modified xsi:type="dcterms:W3CDTF">2011-08-01T06:04:30Z</dcterms:modified>
  <cp:revision>1</cp:revision>
  <dc:title>Un analisis exploratorio basado en datos</dc:title>
</cp:coreProperties>
</file>